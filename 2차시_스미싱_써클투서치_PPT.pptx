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 시간 복습(저장공간 정리, 카톡 예약 메시지). "오늘은 속지 않는 법, 그리고 궁금한 걸 손가락 하나로 찾는 법을 배웁니다."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청첩장·부고는 보낸 사람에게 전화로 직접 확인. 과태료는 공식 앱(교통민원24)이나 우편으로 확인. 실제 링크는 절대 열지 않기.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실습: 비행기 모드 켰다 끄기 1회, 비상번호 3개 연락처 저장. 엠세이퍼 사이트: msafer.or.kr (PASS 앱에서도 가능). 악성앱 검사(시티즌코난)는 다음 시간에 실습.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예전엔 이름을 알아야 검색했지만, 이제는 보여 주기만 하면 AI가 찾아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기종·OS 버전에 따라 미지원일 수 있음. 아이폰은 구글 앱 렌즈로 대체. 유튜브 속 노래 제목 찾기(음악 아이콘)도 보여 주기.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548640"/>
            <a:ext cx="2103120" cy="2103120"/>
          </a:xfrm>
          <a:prstGeom prst="ellipse">
            <a:avLst/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20840" y="960120"/>
            <a:ext cx="1280160" cy="1280160"/>
          </a:xfrm>
          <a:prstGeom prst="ellipse">
            <a:avLst/>
          </a:prstGeom>
          <a:solidFill>
            <a:srgbClr val="1B2A4A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2057400"/>
            <a:ext cx="640080" cy="640080"/>
          </a:xfrm>
          <a:prstGeom prst="line">
            <a:avLst/>
          </a:prstGeom>
          <a:noFill/>
          <a:ln w="1270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스마트폰 활용 중급반 · 2차시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속지 않고,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건 바로 찾기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D6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  스미싱·보이스피싱 구별 &amp; 대처법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D6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  써클투서치 &amp; 스마트렌즈로 검색하기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1교시는 속지 않는 법, 2교시는 손가락 하나로 찾는 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 · 50분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속지 않기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164592" cy="164592"/>
          </a:xfrm>
          <a:prstGeom prst="ellipse">
            <a:avLst/>
          </a:prstGeom>
          <a:solidFill>
            <a:srgbClr val="D9542B"/>
          </a:solidFill>
          <a:ln w="12700">
            <a:solidFill>
              <a:srgbClr val="D954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2651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스미싱·보이스피싱이란?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164592" cy="164592"/>
          </a:xfrm>
          <a:prstGeom prst="ellipse">
            <a:avLst/>
          </a:prstGeom>
          <a:solidFill>
            <a:srgbClr val="D9542B"/>
          </a:solidFill>
          <a:ln w="12700">
            <a:solidFill>
              <a:srgbClr val="D954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31089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유행 사기 문자 5가지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657600"/>
            <a:ext cx="164592" cy="164592"/>
          </a:xfrm>
          <a:prstGeom prst="ellipse">
            <a:avLst/>
          </a:prstGeom>
          <a:solidFill>
            <a:srgbClr val="D9542B"/>
          </a:solidFill>
          <a:ln w="12700">
            <a:solidFill>
              <a:srgbClr val="D954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3566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사기 전화 끊는 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164592" cy="164592"/>
          </a:xfrm>
          <a:prstGeom prst="ellipse">
            <a:avLst/>
          </a:prstGeom>
          <a:solidFill>
            <a:srgbClr val="D9542B"/>
          </a:solidFill>
          <a:ln w="12700">
            <a:solidFill>
              <a:srgbClr val="D954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40233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눌렀다면? 응급조치 5단계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8348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F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 · 50분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1920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찾기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029200" y="2743200"/>
            <a:ext cx="164592" cy="164592"/>
          </a:xfrm>
          <a:prstGeom prst="ellipse">
            <a:avLst/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49240" y="2651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써클투서치 따라 하기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0" y="3200400"/>
            <a:ext cx="164592" cy="164592"/>
          </a:xfrm>
          <a:prstGeom prst="ellipse">
            <a:avLst/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49240" y="31089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 렌즈 · 네이버 스마트렌즈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29200" y="3657600"/>
            <a:ext cx="164592" cy="164592"/>
          </a:xfrm>
          <a:prstGeom prst="ellipse">
            <a:avLst/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49240" y="3566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 이름 · 상품 정보 찾기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0" y="4114800"/>
            <a:ext cx="164592" cy="164592"/>
          </a:xfrm>
          <a:prstGeom prst="ellipse">
            <a:avLst/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49240" y="40233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외국어 실시간 번역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9542B"/>
          </a:solidFill>
          <a:ln w="12700">
            <a:solidFill>
              <a:srgbClr val="D954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사기, 무엇이 다를까?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"급하게 만들어 판단을 흐리게" 합니다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54480"/>
            <a:ext cx="731520" cy="731520"/>
          </a:xfrm>
          <a:prstGeom prst="ellipse">
            <a:avLst/>
          </a:prstGeom>
          <a:solidFill>
            <a:srgbClr val="FDECE6"/>
          </a:solidFill>
          <a:ln w="12700">
            <a:solidFill>
              <a:srgbClr val="FDEC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📩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스미싱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문자 + 피싱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문자 속 링크를 누르게 해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악성 앱 설치·개인정보 탈취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1554480"/>
            <a:ext cx="731520" cy="731520"/>
          </a:xfrm>
          <a:prstGeom prst="ellipse">
            <a:avLst/>
          </a:prstGeom>
          <a:solidFill>
            <a:srgbClr val="FDECE6"/>
          </a:solidFill>
          <a:ln w="12700">
            <a:solidFill>
              <a:srgbClr val="FDEC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보이스피싱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사기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검찰·경찰·은행을 사칭해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돈을 옮기라고 요구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13716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554480"/>
            <a:ext cx="731520" cy="731520"/>
          </a:xfrm>
          <a:prstGeom prst="ellipse">
            <a:avLst/>
          </a:prstGeom>
          <a:solidFill>
            <a:srgbClr val="FDECE6"/>
          </a:solidFill>
          <a:ln w="12700">
            <a:solidFill>
              <a:srgbClr val="FDEC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메신저피싱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카톡 사기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자녀·지인인 척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"폰 고장났어, 돈 보내 줘"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9542B"/>
          </a:solidFill>
          <a:ln w="12700">
            <a:solidFill>
              <a:srgbClr val="D954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요즘 유행하는 사기 문자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진짜일까, 가짜일까? 손 들어 맞혀 보세요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DECE6"/>
          </a:solidFill>
          <a:ln w="12700">
            <a:solidFill>
              <a:srgbClr val="FDEC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과태료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4538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[교통민원] 속도위반 과태료 미납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▶ http://…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DECE6"/>
          </a:solidFill>
          <a:ln w="12700">
            <a:solidFill>
              <a:srgbClr val="FDEC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35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4538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궁금함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 불일치로 배송 보류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 확인 ▶ http://…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DECE6"/>
          </a:solidFill>
          <a:ln w="12700">
            <a:solidFill>
              <a:srgbClr val="FDEC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35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청첩장·부고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14538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예의·걱정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청첩장 보내드립니다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http://…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DECE6"/>
          </a:solidFill>
          <a:ln w="12700">
            <a:solidFill>
              <a:srgbClr val="FDEC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1272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사칭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31455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걱정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 나 폰 액정 깨졌어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번호로 인증 좀 해 줘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46120" y="301752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DECE6"/>
          </a:solidFill>
          <a:ln w="12700">
            <a:solidFill>
              <a:srgbClr val="FDEC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9000" y="31272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지원금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31455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이득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민생지원금 지급 대상입니다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▶ http://…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301752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신호 3가지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520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링크가 있다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급하게 재촉한다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앱·인증번호·돈 요구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9542B"/>
          </a:solidFill>
          <a:ln w="12700">
            <a:solidFill>
              <a:srgbClr val="D954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전화, 이렇게 끊으세요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공공기관은 전화로 돈을 옮기라고 하지 않습니다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FDECE6"/>
          </a:solidFill>
          <a:ln w="12700">
            <a:solidFill>
              <a:srgbClr val="FDEC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말이 나오면 사기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"검찰청입니다. 계좌가 범죄에 연루됐어요"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"안전계좌로 돈을 옮기세요"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앱을 깔면 확인해 드릴게요"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"아무에게도 말하지 마세요"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E3F3F3"/>
          </a:solidFill>
          <a:ln w="12700">
            <a:solidFill>
              <a:srgbClr val="E3F3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F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말하고 끊기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0116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"제가 다시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전화드릴게요."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200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끊고, 대표번호로 직접 확인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가족 사칭은 원래 번호로 전화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 짝과 역할극 — 한 명은 사기범, 한 명은 "다시 전화드릴게요" 하고 끊기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9542B"/>
          </a:solidFill>
          <a:ln w="12700">
            <a:solidFill>
              <a:srgbClr val="D954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실수로 눌렀다면? 응급조치 5단계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끊고 → 지우고 → 신고하고 → 막고 → 상담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554480" cy="2468880"/>
          </a:xfrm>
          <a:prstGeom prst="roundRect">
            <a:avLst>
              <a:gd name="adj" fmla="val 705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00200"/>
            <a:ext cx="457200" cy="45720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끊기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974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비행기 모드 켜기 ✈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938528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139696" y="1417320"/>
            <a:ext cx="1554480" cy="2468880"/>
          </a:xfrm>
          <a:prstGeom prst="roundRect">
            <a:avLst>
              <a:gd name="adj" fmla="val 705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88336" y="1600200"/>
            <a:ext cx="457200" cy="45720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8833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231136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지우기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2231136" y="26974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앱 삭제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621024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822192" y="1417320"/>
            <a:ext cx="1554480" cy="2468880"/>
          </a:xfrm>
          <a:prstGeom prst="roundRect">
            <a:avLst>
              <a:gd name="adj" fmla="val 7059"/>
            </a:avLst>
          </a:prstGeom>
          <a:solidFill>
            <a:srgbClr val="FDECE6"/>
          </a:solidFill>
          <a:ln w="12700">
            <a:solidFill>
              <a:srgbClr val="FDEC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0832" y="1600200"/>
            <a:ext cx="457200" cy="457200"/>
          </a:xfrm>
          <a:prstGeom prst="ellipse">
            <a:avLst/>
          </a:prstGeom>
          <a:solidFill>
            <a:srgbClr val="D9542B"/>
          </a:solidFill>
          <a:ln w="12700">
            <a:solidFill>
              <a:srgbClr val="D954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7083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913632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3913632" y="26974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112 · 은행에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 지급정지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504688" y="1417320"/>
            <a:ext cx="1554480" cy="2468880"/>
          </a:xfrm>
          <a:prstGeom prst="roundRect">
            <a:avLst>
              <a:gd name="adj" fmla="val 705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53328" y="1600200"/>
            <a:ext cx="457200" cy="45720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5332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596128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막기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5596128" y="26974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엠세이퍼로 내 명의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개통 차단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986016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187184" y="1417320"/>
            <a:ext cx="1554480" cy="2468880"/>
          </a:xfrm>
          <a:prstGeom prst="roundRect">
            <a:avLst>
              <a:gd name="adj" fmla="val 705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35824" y="1600200"/>
            <a:ext cx="457200" cy="45720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3582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278624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7278624" y="26974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118 스미싱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1332 금융피해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7200" y="411480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41148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연락처에 저장하세요    112 경찰    118 스미싱 상담    1332 금융감독원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1280160" cy="1280160"/>
          </a:xfrm>
          <a:prstGeom prst="ellipse">
            <a:avLst/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10312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3716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건 바로 검색!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24375E"/>
          </a:solidFill>
          <a:ln w="12700">
            <a:solidFill>
              <a:srgbClr val="2437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써클투서치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 동그라미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64408" y="26517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24375E"/>
          </a:solidFill>
          <a:ln w="12700">
            <a:solidFill>
              <a:srgbClr val="2437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93008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 렌즈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93008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카메라로 비추기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80176" y="26517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24375E"/>
          </a:solidFill>
          <a:ln w="12700">
            <a:solidFill>
              <a:srgbClr val="2437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08776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스마트렌즈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상품·꽃·책 인식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써클투서치 따라 하기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갤럭시 등 지원 기종 · 안 되면 구글 렌즈로!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띄우기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060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유튜브·카톡 사진·뉴스 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 화면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0" y="137160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554480"/>
            <a:ext cx="457200" cy="457200"/>
          </a:xfrm>
          <a:prstGeom prst="ellipse">
            <a:avLst/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길게 누르기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26060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버튼(또는 아래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막대) 꾹~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554480"/>
            <a:ext cx="457200" cy="457200"/>
          </a:xfrm>
          <a:prstGeom prst="ellipse">
            <a:avLst/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6060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곳에 손가락으로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 · 글자는 문지르기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66560" y="137160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1554480"/>
            <a:ext cx="457200" cy="457200"/>
          </a:xfrm>
          <a:prstGeom prst="ellipse">
            <a:avLst/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보기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26060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결과를 위로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올려 자세히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3F3F3"/>
          </a:solidFill>
          <a:ln w="12700">
            <a:solidFill>
              <a:srgbClr val="E3F3F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3931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될 때: 설정 → 디스플레이 → 내비게이션 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"서클 투 서치" 켜기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393192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46320" y="3931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 카톡 사진 속 가방에 동그라미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비슷한 상품 찾기 / 모르는 단어 문지르기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카메라로 비추면 알려 주는 렌즈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안드로이드·아이폰 모두 사용 가능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F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 렌즈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 앱 → 검색창 오른쪽 카메라 아이콘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비추고 셔터 누르기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/ 번역 / 텍스트 중 선택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글자를 복사해 카톡에 붙이기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776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A9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스마트렌즈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앱 → 검색창 오른쪽 초록 동그라미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2468880"/>
            <a:ext cx="457200" cy="457200"/>
          </a:xfrm>
          <a:prstGeom prst="ellipse">
            <a:avLst/>
          </a:prstGeom>
          <a:solidFill>
            <a:srgbClr val="03A94D"/>
          </a:solidFill>
          <a:ln w="12700">
            <a:solidFill>
              <a:srgbClr val="03A9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377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53212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"렌즈" 선택 → 비추기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937760" y="3017520"/>
            <a:ext cx="457200" cy="457200"/>
          </a:xfrm>
          <a:prstGeom prst="ellipse">
            <a:avLst/>
          </a:prstGeom>
          <a:solidFill>
            <a:srgbClr val="03A94D"/>
          </a:solidFill>
          <a:ln w="12700">
            <a:solidFill>
              <a:srgbClr val="03A94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37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53212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바코드 → 가격 비교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937760" y="3566160"/>
            <a:ext cx="457200" cy="457200"/>
          </a:xfrm>
          <a:prstGeom prst="ellipse">
            <a:avLst/>
          </a:prstGeom>
          <a:solidFill>
            <a:srgbClr val="03A94D"/>
          </a:solidFill>
          <a:ln w="12700">
            <a:solidFill>
              <a:srgbClr val="03A94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377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49377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553212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꽃·식물 · 책 표지 인식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57200" y="438912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4389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 꽃 사진을 비춰 이름 찾기 → 구글과 네이버 결과 비교 / 과자 포장 비춰 가격 확인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외국어도 카메라로 바로 번역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간판 · 메뉴판 · 설명서 위에 한국어가 덮여 보여요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CFD6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EXIT →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CFD6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 Smoking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CFD6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本日のおすすめ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렌즈로 비추면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91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출구 →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금연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추천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80560" y="1508760"/>
            <a:ext cx="457200" cy="457200"/>
          </a:xfrm>
          <a:prstGeom prst="ellipse">
            <a:avLst/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 렌즈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1783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→ 아래 "번역" 탭 → 비추기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2468880"/>
            <a:ext cx="457200" cy="457200"/>
          </a:xfrm>
          <a:prstGeom prst="ellipse">
            <a:avLst/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파파고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"이미지" 번역 → 카메라로 찍기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80560" y="3429000"/>
            <a:ext cx="457200" cy="457200"/>
          </a:xfrm>
          <a:prstGeom prst="ellipse">
            <a:avLst/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805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074920" y="3337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074920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해외여행 메뉴판 · 공항 안내판 · 수입 제품 설명서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 영어·일본어 안내문 인쇄물을 비춰 번역해 보기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두 가지, 이렇게 이어져요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의심 문자도 "글자만" 검색해 볼 수 있어요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E3F3F3"/>
          </a:solidFill>
          <a:ln w="12700">
            <a:solidFill>
              <a:srgbClr val="E3F3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F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⭕ 이렇게 하세요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의심 문자의 번호나 문구를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써클투서치로 문질러 검색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"사기 신고 사례"가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나오기도 해요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FDECE6"/>
          </a:solidFill>
          <a:ln w="12700">
            <a:solidFill>
              <a:srgbClr val="FDEC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이건 절대 금지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0116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문자 속 링크 주소(http…)를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누르는 것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2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검색은 글자만!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502920" cy="50292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4206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"궁금하면 검색, 의심되면 멈춤"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548640"/>
            <a:ext cx="1645920" cy="1645920"/>
          </a:xfrm>
          <a:prstGeom prst="ellipse">
            <a:avLst/>
          </a:prstGeom>
          <a:solidFill>
            <a:srgbClr val="1F7F86"/>
          </a:solidFill>
          <a:ln w="12700">
            <a:solidFill>
              <a:srgbClr val="1F7F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182880" cy="18288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1887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사기 문자 공통 신호: 링크 · 재촉 · 돈 요구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1801368"/>
            <a:ext cx="182880" cy="18288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69164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눌렀다면: 끊고 → 지우고 → 신고 → 막고 → 상담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304288"/>
            <a:ext cx="182880" cy="18288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1945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써클투서치: 홈 버튼 길게 → 동그라미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2807208"/>
            <a:ext cx="182880" cy="18288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6974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렌즈: 꽃 이름 · 상품 · 외국어 번역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8046720" cy="1097280"/>
          </a:xfrm>
          <a:prstGeom prst="roundRect">
            <a:avLst>
              <a:gd name="adj" fmla="val 10000"/>
            </a:avLst>
          </a:prstGeom>
          <a:solidFill>
            <a:srgbClr val="24375E"/>
          </a:solidFill>
          <a:ln w="12700">
            <a:solidFill>
              <a:srgbClr val="2437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474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과제(선택)  산책하며 모르는 꽃·간판 1개를 렌즈로 찾아보기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  스팸 차단 &amp; 보안 설정 + 추석 특집 온통대전·온누리상품권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비상번호  112 · 118 · 1332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2차시 스미싱 대처 3차시 스팸 차단 &amp; 온통대전·온누리상품권 써클투서치</dc:title>
  <dc:subject>PptxGenJS Presentation</dc:subject>
  <dc:creator>PptxGenJS</dc:creator>
  <cp:lastModifiedBy>PptxGenJS</cp:lastModifiedBy>
  <cp:revision>1</cp:revision>
  <dcterms:created xsi:type="dcterms:W3CDTF">2026-09-23T01:39:06Z</dcterms:created>
  <dcterms:modified xsi:type="dcterms:W3CDTF">2026-09-23T01:39:06Z</dcterms:modified>
</cp:coreProperties>
</file>